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3" r:id="rId3"/>
    <p:sldId id="264" r:id="rId4"/>
    <p:sldId id="265" r:id="rId5"/>
    <p:sldId id="266" r:id="rId6"/>
    <p:sldId id="268" r:id="rId7"/>
    <p:sldId id="273" r:id="rId8"/>
    <p:sldId id="267" r:id="rId9"/>
    <p:sldId id="269" r:id="rId10"/>
    <p:sldId id="271" r:id="rId11"/>
    <p:sldId id="270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0000"/>
    <a:srgbClr val="3E3E3E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/>
    <p:restoredTop sz="94597"/>
  </p:normalViewPr>
  <p:slideViewPr>
    <p:cSldViewPr snapToGrid="0" snapToObjects="1">
      <p:cViewPr varScale="1">
        <p:scale>
          <a:sx n="79" d="100"/>
          <a:sy n="79" d="100"/>
        </p:scale>
        <p:origin x="113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42" d="100"/>
          <a:sy n="142" d="100"/>
        </p:scale>
        <p:origin x="5216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310027-B55F-E77B-819D-4A4E5C288F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A154E-1487-D856-F4D8-A61E043EAA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0B3C3-46D6-624F-85A2-74282A6F708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47673-3137-D899-D043-41E787EF2E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1736C-0169-8E85-DA59-97E594E816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4EC57-7F1E-E14E-A95F-323CC44F8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6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3E31-9781-B24F-87A9-F98653FBF465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F4F8C-1785-AC43-97F9-C9301BD93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7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44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1F4F8C-1785-AC43-97F9-C9301BD933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97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cademicBdlg.jp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07095"/>
            <a:ext cx="11663082" cy="64536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693989"/>
            <a:ext cx="10363200" cy="1470025"/>
          </a:xfrm>
        </p:spPr>
        <p:txBody>
          <a:bodyPr>
            <a:noAutofit/>
          </a:bodyPr>
          <a:lstStyle>
            <a:lvl1pPr>
              <a:defRPr sz="5400" b="0" i="0" spc="0">
                <a:solidFill>
                  <a:schemeClr val="bg1"/>
                </a:solidFill>
                <a:latin typeface="Oswald Medium" panose="02000603000000000000" pitchFamily="2" charset="77"/>
                <a:ea typeface="Oswald Medium" panose="02000603000000000000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4235390"/>
            <a:ext cx="8534400" cy="1189892"/>
          </a:xfrm>
        </p:spPr>
        <p:txBody>
          <a:bodyPr>
            <a:normAutofit/>
          </a:bodyPr>
          <a:lstStyle>
            <a:lvl1pPr marL="0" indent="0" algn="ctr">
              <a:buNone/>
              <a:defRPr sz="2400" b="1" i="0" spc="30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A29C16-EAA5-26FC-F00D-7F8EC0CCC5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4929" y="1017297"/>
            <a:ext cx="1462142" cy="11112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BF8071-B6F2-ADC6-C49C-1BE304384F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 flipV="1">
            <a:off x="-2967296" y="3299573"/>
            <a:ext cx="6463510" cy="2588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0C7E7D-86D8-A7B1-FD2F-C4958180D6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 flipV="1">
            <a:off x="8695786" y="3289723"/>
            <a:ext cx="6463510" cy="25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60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45097"/>
            <a:ext cx="7416800" cy="923827"/>
          </a:xfrm>
        </p:spPr>
        <p:txBody>
          <a:bodyPr>
            <a:noAutofit/>
          </a:bodyPr>
          <a:lstStyle>
            <a:lvl1pPr algn="l">
              <a:defRPr sz="2800" b="0" i="0">
                <a:solidFill>
                  <a:schemeClr val="bg1"/>
                </a:solidFill>
                <a:latin typeface="Oswald Medium" panose="02000603000000000000" pitchFamily="2" charset="77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4647321"/>
          </a:xfrm>
        </p:spPr>
        <p:txBody>
          <a:bodyPr/>
          <a:lstStyle>
            <a:lvl1pPr marL="0" indent="0">
              <a:buNone/>
              <a:defRPr>
                <a:solidFill>
                  <a:srgbClr val="5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>
                <a:solidFill>
                  <a:srgbClr val="5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>
                <a:solidFill>
                  <a:srgbClr val="5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>
                <a:solidFill>
                  <a:srgbClr val="5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>
                <a:solidFill>
                  <a:srgbClr val="5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7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2"/>
            <a:ext cx="10363200" cy="1362075"/>
          </a:xfrm>
        </p:spPr>
        <p:txBody>
          <a:bodyPr anchor="t">
            <a:normAutofit/>
          </a:bodyPr>
          <a:lstStyle>
            <a:lvl1pPr algn="l">
              <a:defRPr sz="3600" b="0" i="0" cap="none">
                <a:latin typeface="Oswald Medium" panose="02000603000000000000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 b="1" i="0" spc="300">
                <a:solidFill>
                  <a:srgbClr val="3E3E3E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2294022"/>
            <a:ext cx="5384800" cy="3832143"/>
          </a:xfrm>
        </p:spPr>
        <p:txBody>
          <a:bodyPr/>
          <a:lstStyle>
            <a:lvl1pPr>
              <a:defRPr sz="2200" b="1" i="0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2294022"/>
            <a:ext cx="5384800" cy="3832143"/>
          </a:xfrm>
        </p:spPr>
        <p:txBody>
          <a:bodyPr/>
          <a:lstStyle>
            <a:lvl1pPr>
              <a:defRPr sz="2200" b="1" i="0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9292DD-02A7-3919-DDAF-09FFBBBF4C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282318"/>
            <a:ext cx="10972800" cy="89364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55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82318"/>
            <a:ext cx="10972800" cy="89364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2307098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200" b="1" i="0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946861"/>
            <a:ext cx="5386917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78" y="2307098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2000" b="1" i="0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946861"/>
            <a:ext cx="5389033" cy="3179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7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SCwall.psd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938" y="208038"/>
            <a:ext cx="11672125" cy="6441925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9616" y="2857500"/>
            <a:ext cx="9192768" cy="1143000"/>
          </a:xfrm>
        </p:spPr>
        <p:txBody>
          <a:bodyPr>
            <a:normAutofit/>
          </a:bodyPr>
          <a:lstStyle>
            <a:lvl1pPr>
              <a:defRPr sz="3400" b="0" i="0">
                <a:solidFill>
                  <a:srgbClr val="500000"/>
                </a:solidFill>
                <a:latin typeface="Oswald Medium" panose="02000603000000000000" pitchFamily="2" charset="77"/>
                <a:ea typeface="Oswald Medium" panose="02000603000000000000" pitchFamily="2" charset="77"/>
                <a:cs typeface="Arial Narrow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321C72-20D3-3F48-DE78-93282C42CD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 flipV="1">
            <a:off x="-2967296" y="3299573"/>
            <a:ext cx="6463510" cy="2588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27AEE4-929C-D189-5DD7-46F12F26E5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 flipV="1">
            <a:off x="8695786" y="3289723"/>
            <a:ext cx="6463510" cy="258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0DF63-CACC-9297-3920-C7226B6438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41830" y="1661939"/>
            <a:ext cx="908339" cy="91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2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11" y="1285460"/>
            <a:ext cx="4011084" cy="104766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285461"/>
            <a:ext cx="6815667" cy="484070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1" y="2492188"/>
            <a:ext cx="4011084" cy="3633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6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311965"/>
            <a:ext cx="7315200" cy="341561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4CE51-D15A-BB47-9138-751D578D258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FB8FF-E84C-EC49-87A9-5C8301356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196535"/>
            <a:ext cx="10972800" cy="926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253006"/>
            <a:ext cx="10972800" cy="3873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C4CE51-D15A-BB47-9138-751D578D2580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8FB8FF-E84C-EC49-87A9-5C83013565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459" y="213662"/>
            <a:ext cx="11663082" cy="92629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DD9AB-EF41-CE9F-D3EB-9408AAD3CA8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335" y="701811"/>
            <a:ext cx="113192" cy="520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8E8D7-5CC6-0657-05BE-AA8775067F8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0335" y="152520"/>
            <a:ext cx="113192" cy="5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68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b="0" i="0" kern="1200">
          <a:solidFill>
            <a:srgbClr val="500000"/>
          </a:solidFill>
          <a:latin typeface="Oswald Medium" panose="02000603000000000000" pitchFamily="2" charset="77"/>
          <a:ea typeface="Open Sans" panose="020B0606030504020204" pitchFamily="34" charset="0"/>
          <a:cs typeface="Arial Black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50000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50000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50000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50000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50000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2800"/>
            <a:ext cx="10363200" cy="840547"/>
          </a:xfrm>
        </p:spPr>
        <p:txBody>
          <a:bodyPr/>
          <a:lstStyle/>
          <a:p>
            <a:r>
              <a:rPr lang="en-US" altLang="zh-CN" dirty="0"/>
              <a:t>Neural Implicit Surfaces for Variational Shape Modeling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428293"/>
            <a:ext cx="8534400" cy="1189892"/>
          </a:xfrm>
        </p:spPr>
        <p:txBody>
          <a:bodyPr/>
          <a:lstStyle/>
          <a:p>
            <a:r>
              <a:rPr lang="en-US" dirty="0"/>
              <a:t>Siqi Guo</a:t>
            </a:r>
          </a:p>
        </p:txBody>
      </p:sp>
    </p:spTree>
    <p:extLst>
      <p:ext uri="{BB962C8B-B14F-4D97-AF65-F5344CB8AC3E}">
        <p14:creationId xmlns:p14="http://schemas.microsoft.com/office/powerpoint/2010/main" val="135469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FD961-4E08-81F3-1300-C34F2179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68264-EEBA-8E99-D2B7-BC13067B6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Project Goal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Replicate and investigate the </a:t>
            </a:r>
            <a:r>
              <a:rPr lang="en-US" altLang="zh-CN" sz="2000" dirty="0" err="1"/>
              <a:t>NeuVAS</a:t>
            </a:r>
            <a:r>
              <a:rPr lang="en-US" altLang="zh-CN" sz="2000" dirty="0"/>
              <a:t> [Wang et al. 2025] (published on ACM Transactions on Graphics) method for creating 3D surfaces from sparse curve sketches</a:t>
            </a:r>
          </a:p>
          <a:p>
            <a:endParaRPr lang="en-US" altLang="zh-CN" dirty="0"/>
          </a:p>
          <a:p>
            <a:r>
              <a:rPr lang="en-US" altLang="zh-CN" b="1" dirty="0"/>
              <a:t>Why This Project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Research Interest:</a:t>
            </a:r>
            <a:r>
              <a:rPr lang="en-US" altLang="zh-CN" sz="2000" dirty="0"/>
              <a:t> Combines differential geometry with 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Practical Impact:</a:t>
            </a:r>
            <a:r>
              <a:rPr lang="en-US" altLang="zh-CN" sz="2000" dirty="0"/>
              <a:t> Enables natural 3D modeling from VR/AR sketches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Technical Challenge: </a:t>
            </a:r>
            <a:r>
              <a:rPr lang="en-US" altLang="zh-CN" sz="2000" dirty="0"/>
              <a:t>Hard to create a smooth surface passing through sparse curve sketches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181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72769-46CE-0676-E923-220A416C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Surfacing Sparse 3D Curves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F34DD-333C-F613-E239-D2B38C34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78844"/>
            <a:ext cx="10972799" cy="2322191"/>
          </a:xfrm>
        </p:spPr>
        <p:txBody>
          <a:bodyPr/>
          <a:lstStyle/>
          <a:p>
            <a:r>
              <a:rPr lang="en-US" altLang="zh-CN" sz="2400" b="1" dirty="0"/>
              <a:t>The Challenge:</a:t>
            </a:r>
            <a:r>
              <a:rPr lang="en-US" altLang="zh-CN" sz="2400" dirty="0"/>
              <a:t> Given sparse, unstructured 3D curves, create a smooth surface that: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Accurately passes through the curves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Has natural, aesthetic shape in between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Preserves sharp features where intended</a:t>
            </a:r>
          </a:p>
          <a:p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5" name="图片 4" descr="画着卡通人物&#10;&#10;AI 生成的内容可能不正确。">
            <a:extLst>
              <a:ext uri="{FF2B5EF4-FFF2-40B4-BE49-F238E27FC236}">
                <a16:creationId xmlns:a16="http://schemas.microsoft.com/office/drawing/2014/main" id="{CE3A5F33-8395-D995-032C-68BECDD5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34" y="3619877"/>
            <a:ext cx="2860415" cy="2749115"/>
          </a:xfrm>
          <a:prstGeom prst="rect">
            <a:avLst/>
          </a:prstGeom>
        </p:spPr>
      </p:pic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81FBABD2-03EE-A6E5-C117-F4533DFDE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14" y="4142044"/>
            <a:ext cx="3005105" cy="1975578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E831603D-09B6-BFB9-F785-7AEA84CB8E43}"/>
              </a:ext>
            </a:extLst>
          </p:cNvPr>
          <p:cNvSpPr/>
          <p:nvPr/>
        </p:nvSpPr>
        <p:spPr>
          <a:xfrm>
            <a:off x="4032445" y="4899709"/>
            <a:ext cx="959224" cy="125838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CAD332-1DDA-7B70-9584-F9008AB65B62}"/>
              </a:ext>
            </a:extLst>
          </p:cNvPr>
          <p:cNvSpPr txBox="1"/>
          <p:nvPr/>
        </p:nvSpPr>
        <p:spPr>
          <a:xfrm>
            <a:off x="5311411" y="4585945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?</a:t>
            </a:r>
            <a:endParaRPr lang="zh-CN" altLang="en-US" sz="4400" b="1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6D74C91-A83D-D4EB-D801-6AF3BA0BFB3C}"/>
              </a:ext>
            </a:extLst>
          </p:cNvPr>
          <p:cNvSpPr/>
          <p:nvPr/>
        </p:nvSpPr>
        <p:spPr>
          <a:xfrm>
            <a:off x="9353606" y="5003995"/>
            <a:ext cx="959224" cy="125838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2C567A-66C3-B84F-BA55-7166AD195D1A}"/>
              </a:ext>
            </a:extLst>
          </p:cNvPr>
          <p:cNvSpPr txBox="1"/>
          <p:nvPr/>
        </p:nvSpPr>
        <p:spPr>
          <a:xfrm>
            <a:off x="10512830" y="4672633"/>
            <a:ext cx="4459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?</a:t>
            </a:r>
            <a:endParaRPr lang="zh-CN" altLang="en-US" sz="4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EE4303-BF4D-A375-36B3-75C361ED578F}"/>
              </a:ext>
            </a:extLst>
          </p:cNvPr>
          <p:cNvSpPr txBox="1"/>
          <p:nvPr/>
        </p:nvSpPr>
        <p:spPr>
          <a:xfrm>
            <a:off x="3000722" y="62863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Huge gaps between curves - many possible surfaces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3263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E23E3E-CFAC-E42F-D00E-5C7116AC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Foundation: What You Need to Know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C99A02-4585-ED60-C432-BF26730C7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Neural Signed Distance Functions (SDF):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Surface represented as 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20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(zero-level set)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Key Advantage: Smooth, differentiable representation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Prior Work - IGR [Gropp et al. 2020]: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Encoded by neural network (MLP)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 err="1"/>
                  <a:t>Eikonal</a:t>
                </a:r>
                <a:r>
                  <a:rPr lang="en-US" altLang="zh-CN" sz="2000" dirty="0"/>
                  <a:t> constraint: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||</m:t>
                    </m:r>
                    <m:r>
                      <m:rPr>
                        <m:sty m:val="p"/>
                      </m:rPr>
                      <a:rPr lang="en-US" altLang="zh-CN" sz="2000" i="0" dirty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|| = 1 </m:t>
                    </m:r>
                  </m:oMath>
                </a14:m>
                <a:r>
                  <a:rPr lang="en-US" altLang="zh-CN" sz="2000" dirty="0"/>
                  <a:t>(valid SDF)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Designed for </a:t>
                </a:r>
                <a:r>
                  <a:rPr lang="en-US" altLang="zh-CN" sz="2000" b="1" dirty="0"/>
                  <a:t>dense</a:t>
                </a:r>
                <a:r>
                  <a:rPr lang="en-US" altLang="zh-CN" sz="2000" dirty="0"/>
                  <a:t> point clouds (millions of points)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b="1" dirty="0"/>
                  <a:t>Limitation:</a:t>
                </a:r>
                <a:r>
                  <a:rPr lang="en-US" altLang="zh-CN" sz="2000" dirty="0"/>
                  <a:t> No shape control for sparse input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0C99A02-4585-ED60-C432-BF26730C7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30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134E2-7C14-C7BC-F324-3A8C83407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Core Innovation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F45CD2-E5BD-3F19-8BF2-367A011E9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[Wang et al. 2025] </a:t>
            </a:r>
            <a:r>
              <a:rPr lang="en-US" altLang="zh-CN" b="1" dirty="0" err="1"/>
              <a:t>NeuVAS</a:t>
            </a:r>
            <a:r>
              <a:rPr lang="en-US" altLang="zh-CN" b="1" dirty="0"/>
              <a:t> Strategy:</a:t>
            </a:r>
            <a:r>
              <a:rPr lang="en-US" altLang="zh-CN" dirty="0"/>
              <a:t> Combine thin-plate energy with neural SDF</a:t>
            </a:r>
          </a:p>
          <a:p>
            <a:endParaRPr lang="en-US" altLang="zh-CN" dirty="0"/>
          </a:p>
          <a:p>
            <a:r>
              <a:rPr lang="en-US" altLang="zh-CN" dirty="0"/>
              <a:t>Four-Part Loss 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Eikonal</a:t>
            </a:r>
            <a:r>
              <a:rPr lang="en-US" altLang="zh-CN" sz="2000" dirty="0"/>
              <a:t> Condition.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/>
              <a:t>Dirichlet Manifold.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/>
              <a:t>Dirichlet Non-Manifold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000" dirty="0"/>
              <a:t>Distance-Weighted Smoothness (based on the thin-plate energy)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000" dirty="0"/>
          </a:p>
        </p:txBody>
      </p:sp>
      <p:pic>
        <p:nvPicPr>
          <p:cNvPr id="7" name="图片 6" descr="黑色的钟表&#10;&#10;AI 生成的内容可能不正确。">
            <a:extLst>
              <a:ext uri="{FF2B5EF4-FFF2-40B4-BE49-F238E27FC236}">
                <a16:creationId xmlns:a16="http://schemas.microsoft.com/office/drawing/2014/main" id="{CE8D17A3-9858-E122-5547-8E0A014A3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496" y="4122040"/>
            <a:ext cx="1983039" cy="535648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68C7018D-E836-DC72-A52F-AA4C1A690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496" y="4815014"/>
            <a:ext cx="2678243" cy="564141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CDA2A3E4-BCFB-C35D-AC67-36C6DCB4D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496" y="3377780"/>
            <a:ext cx="2376228" cy="586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F9D82B-36BF-CB3C-6305-4A9B16653626}"/>
                  </a:ext>
                </a:extLst>
              </p:cNvPr>
              <p:cNvSpPr txBox="1"/>
              <p:nvPr/>
            </p:nvSpPr>
            <p:spPr>
              <a:xfrm>
                <a:off x="7344539" y="3486581"/>
                <a:ext cx="3962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rgbClr val="00B050"/>
                    </a:solidFill>
                  </a:rPr>
                  <a:t>Makes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dirty="0">
                    <a:solidFill>
                      <a:srgbClr val="00B050"/>
                    </a:solidFill>
                  </a:rPr>
                  <a:t> behave like distance function</a:t>
                </a:r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F9D82B-36BF-CB3C-6305-4A9B16653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539" y="3486581"/>
                <a:ext cx="3962400" cy="369332"/>
              </a:xfrm>
              <a:prstGeom prst="rect">
                <a:avLst/>
              </a:prstGeom>
              <a:blipFill>
                <a:blip r:embed="rId5"/>
                <a:stretch>
                  <a:fillRect l="-1385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913F4C83-D4DB-6E42-A190-5E9BC1AB0509}"/>
              </a:ext>
            </a:extLst>
          </p:cNvPr>
          <p:cNvSpPr txBox="1"/>
          <p:nvPr/>
        </p:nvSpPr>
        <p:spPr>
          <a:xfrm>
            <a:off x="7344539" y="4190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On-Curve Constraint</a:t>
            </a:r>
            <a:endParaRPr lang="zh-CN" alt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41A4586-982B-EC8C-798B-6A56AD764A85}"/>
                  </a:ext>
                </a:extLst>
              </p:cNvPr>
              <p:cNvSpPr txBox="1"/>
              <p:nvPr/>
            </p:nvSpPr>
            <p:spPr>
              <a:xfrm>
                <a:off x="6889391" y="4880580"/>
                <a:ext cx="67194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solidFill>
                      <a:srgbClr val="00B050"/>
                    </a:solidFill>
                  </a:rPr>
                  <a:t>Avoids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 = 0 </m:t>
                    </m:r>
                  </m:oMath>
                </a14:m>
                <a:r>
                  <a:rPr lang="en-US" altLang="zh-CN" dirty="0">
                    <a:solidFill>
                      <a:srgbClr val="00B050"/>
                    </a:solidFill>
                  </a:rPr>
                  <a:t>everywhere - prevent Trivial Solution</a:t>
                </a:r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41A4586-982B-EC8C-798B-6A56AD76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391" y="4880580"/>
                <a:ext cx="6719454" cy="369332"/>
              </a:xfrm>
              <a:prstGeom prst="rect">
                <a:avLst/>
              </a:prstGeom>
              <a:blipFill>
                <a:blip r:embed="rId6"/>
                <a:stretch>
                  <a:fillRect l="-726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图片 20" descr="文本&#10;&#10;AI 生成的内容可能不正确。">
            <a:extLst>
              <a:ext uri="{FF2B5EF4-FFF2-40B4-BE49-F238E27FC236}">
                <a16:creationId xmlns:a16="http://schemas.microsoft.com/office/drawing/2014/main" id="{1168BB7C-8A6C-316A-0DA6-4D0663012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730" y="6003213"/>
            <a:ext cx="3777661" cy="56055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E32BD16-9CE5-B09F-36C3-A27A9AC810FC}"/>
              </a:ext>
            </a:extLst>
          </p:cNvPr>
          <p:cNvSpPr txBox="1"/>
          <p:nvPr/>
        </p:nvSpPr>
        <p:spPr>
          <a:xfrm>
            <a:off x="7191440" y="6066753"/>
            <a:ext cx="675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Near features: weight ≈ 0 → </a:t>
            </a:r>
            <a:r>
              <a:rPr lang="en-US" altLang="zh-CN" b="1" dirty="0">
                <a:solidFill>
                  <a:srgbClr val="00B050"/>
                </a:solidFill>
              </a:rPr>
              <a:t>no penalty</a:t>
            </a:r>
            <a:r>
              <a:rPr lang="en-US" altLang="zh-CN" dirty="0">
                <a:solidFill>
                  <a:srgbClr val="00B050"/>
                </a:solidFill>
              </a:rPr>
              <a:t> for bending</a:t>
            </a:r>
            <a:endParaRPr lang="zh-CN" alt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28FB90A-328B-AA77-C993-401F892B7491}"/>
                  </a:ext>
                </a:extLst>
              </p:cNvPr>
              <p:cNvSpPr txBox="1"/>
              <p:nvPr/>
            </p:nvSpPr>
            <p:spPr>
              <a:xfrm>
                <a:off x="6792739" y="2195526"/>
                <a:ext cx="5044907" cy="1499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/>
                  <a:t>: uniformly sampled points in the bounding region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CN" dirty="0"/>
                  <a:t>: sample points of the input curves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CN" dirty="0"/>
                  <a:t>: feature curves</a:t>
                </a:r>
              </a:p>
              <a:p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: zero-level set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28FB90A-328B-AA77-C993-401F892B7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739" y="2195526"/>
                <a:ext cx="5044907" cy="1499578"/>
              </a:xfrm>
              <a:prstGeom prst="rect">
                <a:avLst/>
              </a:prstGeom>
              <a:blipFill>
                <a:blip r:embed="rId8"/>
                <a:stretch>
                  <a:fillRect l="-242" t="-2033" r="-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0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3C7C8-CDD1-0AE2-F5D8-E21A3F3A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Smoothness Energy</a:t>
            </a:r>
            <a:endParaRPr lang="zh-CN" altLang="en-US" dirty="0"/>
          </a:p>
        </p:txBody>
      </p:sp>
      <p:pic>
        <p:nvPicPr>
          <p:cNvPr id="13" name="内容占位符 12" descr="图片包含 桌子, 盒子, 游戏机, 橙子&#10;&#10;AI 生成的内容可能不正确。">
            <a:extLst>
              <a:ext uri="{FF2B5EF4-FFF2-40B4-BE49-F238E27FC236}">
                <a16:creationId xmlns:a16="http://schemas.microsoft.com/office/drawing/2014/main" id="{DDBAF480-3FE5-64B4-C795-B38D79078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85420" y="1241017"/>
            <a:ext cx="2717405" cy="2793476"/>
          </a:xfrm>
          <a:prstGeom prst="rect">
            <a:avLst/>
          </a:prstGeom>
        </p:spPr>
      </p:pic>
      <p:pic>
        <p:nvPicPr>
          <p:cNvPr id="5" name="图片 4" descr="图表, 雷达图&#10;&#10;AI 生成的内容可能不正确。">
            <a:extLst>
              <a:ext uri="{FF2B5EF4-FFF2-40B4-BE49-F238E27FC236}">
                <a16:creationId xmlns:a16="http://schemas.microsoft.com/office/drawing/2014/main" id="{AB999767-E758-D8F1-14A4-9704FF2FF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333" y="1166793"/>
            <a:ext cx="3052174" cy="2937663"/>
          </a:xfrm>
          <a:prstGeom prst="rect">
            <a:avLst/>
          </a:prstGeom>
        </p:spPr>
      </p:pic>
      <p:pic>
        <p:nvPicPr>
          <p:cNvPr id="15" name="图片 14" descr="图表, 雷达图&#10;&#10;AI 生成的内容可能不正确。">
            <a:extLst>
              <a:ext uri="{FF2B5EF4-FFF2-40B4-BE49-F238E27FC236}">
                <a16:creationId xmlns:a16="http://schemas.microsoft.com/office/drawing/2014/main" id="{9E0B9C50-3148-0548-3862-6DF457222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843" y="4058722"/>
            <a:ext cx="2888158" cy="2766504"/>
          </a:xfrm>
          <a:prstGeom prst="rect">
            <a:avLst/>
          </a:prstGeom>
        </p:spPr>
      </p:pic>
      <p:pic>
        <p:nvPicPr>
          <p:cNvPr id="17" name="图片 16" descr="图片包含 游戏机, 建筑&#10;&#10;AI 生成的内容可能不正确。">
            <a:extLst>
              <a:ext uri="{FF2B5EF4-FFF2-40B4-BE49-F238E27FC236}">
                <a16:creationId xmlns:a16="http://schemas.microsoft.com/office/drawing/2014/main" id="{B8BA491E-48E2-B638-32EF-A83C9C30A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3862" y="4201359"/>
            <a:ext cx="2600523" cy="262386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4BD760-C05F-CD9C-97AA-2C481FFB286D}"/>
              </a:ext>
            </a:extLst>
          </p:cNvPr>
          <p:cNvSpPr txBox="1"/>
          <p:nvPr/>
        </p:nvSpPr>
        <p:spPr>
          <a:xfrm>
            <a:off x="4735386" y="2244491"/>
            <a:ext cx="19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with feature curves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846BBA9-5FB0-FD6F-4E08-E206A35EDF6D}"/>
              </a:ext>
            </a:extLst>
          </p:cNvPr>
          <p:cNvSpPr txBox="1"/>
          <p:nvPr/>
        </p:nvSpPr>
        <p:spPr>
          <a:xfrm>
            <a:off x="4595122" y="5143960"/>
            <a:ext cx="2316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without feature curves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198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20E7A-EB8B-198A-2607-5785F7E2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 Acceleration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605AB4-7DCC-A005-0146-003B4DA6A3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55694"/>
                <a:ext cx="10972799" cy="4849906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2000" dirty="0" err="1"/>
                  <a:t>Eeah</a:t>
                </a:r>
                <a:r>
                  <a:rPr lang="en-US" altLang="zh-CN" sz="2000" dirty="0"/>
                  <a:t> step computing smoothness loss, we have to sample the zero-level set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000" dirty="0"/>
                  <a:t>.</a:t>
                </a:r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The standard method is Marching Cubes at resolution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128</m:t>
                        </m:r>
                      </m:e>
                      <m:sup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sz="2000" dirty="0"/>
                  <a:t>. But we can’t afford this in each step.</a:t>
                </a:r>
              </a:p>
              <a:p>
                <a:endParaRPr lang="en-US" altLang="zh-CN" sz="2000" dirty="0"/>
              </a:p>
              <a:p>
                <a:r>
                  <a:rPr lang="en-US" altLang="zh-CN" sz="2000" b="1" dirty="0"/>
                  <a:t>Solution</a:t>
                </a:r>
                <a:r>
                  <a:rPr lang="en-US" altLang="zh-CN" sz="2000" dirty="0"/>
                  <a:t>: Do marching cubes for every 100 steps. Between two marching cubes, we updates the points in zero-level set through:</a:t>
                </a:r>
              </a:p>
              <a:p>
                <a:endParaRPr lang="en-US" altLang="zh-CN" sz="2000" dirty="0"/>
              </a:p>
              <a:p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~</a:t>
                </a:r>
                <a:r>
                  <a:rPr lang="en-US" altLang="zh-CN" sz="2000" dirty="0" err="1"/>
                  <a:t>1000ms</a:t>
                </a:r>
                <a:r>
                  <a:rPr lang="en-US" altLang="zh-CN" sz="2000" dirty="0"/>
                  <a:t> -&gt; </a:t>
                </a:r>
                <a:r>
                  <a:rPr lang="en-US" altLang="zh-CN" sz="2000" dirty="0" err="1"/>
                  <a:t>150ms</a:t>
                </a:r>
                <a:r>
                  <a:rPr lang="en-US" altLang="zh-CN" sz="2000" dirty="0"/>
                  <a:t> per step</a:t>
                </a:r>
              </a:p>
              <a:p>
                <a:endParaRPr lang="en-US" altLang="zh-CN" sz="2000" dirty="0"/>
              </a:p>
              <a:p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C605AB4-7DCC-A005-0146-003B4DA6A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55694"/>
                <a:ext cx="10972799" cy="4849906"/>
              </a:xfrm>
              <a:blipFill>
                <a:blip r:embed="rId2"/>
                <a:stretch>
                  <a:fillRect l="-556" t="-628" r="-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70340609-2931-E36B-B9CB-47305527B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129" y="1295138"/>
            <a:ext cx="3777661" cy="560556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DD3ABEB4-4057-A252-6012-053981397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1" y="4686440"/>
            <a:ext cx="3610479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229BE-BB54-B2F8-F3F0-9AB5F7990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Putting It All Together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35081D-C23F-8D76-7598-8BD798230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78844"/>
                <a:ext cx="10972799" cy="478748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altLang="zh-CN" dirty="0"/>
                  <a:t>Total Loss: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Hyperparameters: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default: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=0.1,</m:t>
                    </m:r>
                    <m:sSub>
                      <m:sSubPr>
                        <m:ctrlPr>
                          <a:rPr lang="el-GR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𝐷𝑀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=100,</m:t>
                    </m:r>
                    <m:sSub>
                      <m:sSubPr>
                        <m:ctrlPr>
                          <a:rPr lang="el-GR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 err="1" smtClean="0">
                            <a:latin typeface="Cambria Math" panose="02040503050406030204" pitchFamily="18" charset="0"/>
                          </a:rPr>
                          <m:t>𝐷𝑁𝑀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=10,</m:t>
                    </m:r>
                    <m:sSub>
                      <m:sSubPr>
                        <m:ctrlPr>
                          <a:rPr lang="el-GR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  <m:t>𝑆𝑚𝑜𝑜𝑡h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=5×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sz="2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Finetuned: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 err="1">
                            <a:latin typeface="Cambria Math" panose="02040503050406030204" pitchFamily="18" charset="0"/>
                          </a:rPr>
                          <m:t>𝐷𝑁𝑀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∈{1, 10,100}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000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𝑆𝑚𝑜𝑜𝑡h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5×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1×</m:t>
                    </m:r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sz="2000" dirty="0"/>
                  <a:t>: Cosine annealing factor (periodic 1000-iteration cycles)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r>
                  <a:rPr lang="en-US" altLang="zh-CN" dirty="0"/>
                  <a:t>Model Architecture: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/>
                  <a:t>8 layers, 512 hidden dim MLP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Other configs: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Adam optimizer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Constant learning rate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5×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altLang="zh-CN" sz="2400" dirty="0"/>
                  <a:t> steps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sz="2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0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235081D-C23F-8D76-7598-8BD798230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78844"/>
                <a:ext cx="10972799" cy="4787485"/>
              </a:xfrm>
              <a:blipFill>
                <a:blip r:embed="rId2"/>
                <a:stretch>
                  <a:fillRect l="-1056" t="-2803" b="-1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BBC6972-D471-43A6-F032-D7012EFAF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35" y="1400291"/>
            <a:ext cx="5652907" cy="4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5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DC269-A9EB-6253-DC5A-4B69B48B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Results: Structured Curve Networks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EF5BBC3-E434-B228-DF77-DD43AD837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3344" y="3956378"/>
            <a:ext cx="1714532" cy="2480962"/>
          </a:xfrm>
          <a:prstGeom prst="rect">
            <a:avLst/>
          </a:prstGeom>
        </p:spPr>
      </p:pic>
      <p:pic>
        <p:nvPicPr>
          <p:cNvPr id="7" name="图片 6" descr="图片包含 座位, 游戏机, 凳子, 电脑&#10;&#10;AI 生成的内容可能不正确。">
            <a:extLst>
              <a:ext uri="{FF2B5EF4-FFF2-40B4-BE49-F238E27FC236}">
                <a16:creationId xmlns:a16="http://schemas.microsoft.com/office/drawing/2014/main" id="{8AAEA537-070A-5377-219F-26343D35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151" y="3956378"/>
            <a:ext cx="2340066" cy="2443839"/>
          </a:xfrm>
          <a:prstGeom prst="rect">
            <a:avLst/>
          </a:prstGeom>
        </p:spPr>
      </p:pic>
      <p:pic>
        <p:nvPicPr>
          <p:cNvPr id="9" name="图片 8" descr="地上有杯子&#10;&#10;AI 生成的内容可能不正确。">
            <a:extLst>
              <a:ext uri="{FF2B5EF4-FFF2-40B4-BE49-F238E27FC236}">
                <a16:creationId xmlns:a16="http://schemas.microsoft.com/office/drawing/2014/main" id="{A9AE9E09-CC47-2AC4-6F5C-017D6155E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492" y="3956378"/>
            <a:ext cx="1873863" cy="2498485"/>
          </a:xfrm>
          <a:prstGeom prst="rect">
            <a:avLst/>
          </a:prstGeom>
        </p:spPr>
      </p:pic>
      <p:pic>
        <p:nvPicPr>
          <p:cNvPr id="11" name="图片 10" descr="图片包含 游戏机, 乳液&#10;&#10;AI 生成的内容可能不正确。">
            <a:extLst>
              <a:ext uri="{FF2B5EF4-FFF2-40B4-BE49-F238E27FC236}">
                <a16:creationId xmlns:a16="http://schemas.microsoft.com/office/drawing/2014/main" id="{2DA7B0FC-2BFE-125F-62F1-B7F696F08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639" y="1264035"/>
            <a:ext cx="1219941" cy="256058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C66862A-37DD-1AAB-0E23-B2B6C160ABAE}"/>
              </a:ext>
            </a:extLst>
          </p:cNvPr>
          <p:cNvSpPr txBox="1"/>
          <p:nvPr/>
        </p:nvSpPr>
        <p:spPr>
          <a:xfrm>
            <a:off x="544945" y="2364509"/>
            <a:ext cx="23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IGR [Gropp et al. 2020]: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A2A2DBB-CBAD-7E12-F9BF-F40658CC5432}"/>
              </a:ext>
            </a:extLst>
          </p:cNvPr>
          <p:cNvSpPr txBox="1"/>
          <p:nvPr/>
        </p:nvSpPr>
        <p:spPr>
          <a:xfrm>
            <a:off x="3200400" y="6488668"/>
            <a:ext cx="121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toothpaste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BE11C8-5E52-4D59-D7DF-CCAB6111CF80}"/>
              </a:ext>
            </a:extLst>
          </p:cNvPr>
          <p:cNvSpPr txBox="1"/>
          <p:nvPr/>
        </p:nvSpPr>
        <p:spPr>
          <a:xfrm>
            <a:off x="6466889" y="6400217"/>
            <a:ext cx="112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espresso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805C4A-F6EA-D5B9-A1D5-DF60FC37F312}"/>
              </a:ext>
            </a:extLst>
          </p:cNvPr>
          <p:cNvSpPr txBox="1"/>
          <p:nvPr/>
        </p:nvSpPr>
        <p:spPr>
          <a:xfrm>
            <a:off x="9703128" y="6437340"/>
            <a:ext cx="1120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cylinder</a:t>
            </a:r>
            <a:endParaRPr lang="zh-CN" altLang="en-US" dirty="0"/>
          </a:p>
        </p:txBody>
      </p:sp>
      <p:pic>
        <p:nvPicPr>
          <p:cNvPr id="18" name="图片 17" descr="图片包含 桌子, 电脑, 鼠标, 游戏机&#10;&#10;AI 生成的内容可能不正确。">
            <a:extLst>
              <a:ext uri="{FF2B5EF4-FFF2-40B4-BE49-F238E27FC236}">
                <a16:creationId xmlns:a16="http://schemas.microsoft.com/office/drawing/2014/main" id="{B1AF14EA-51F0-E2E1-EF21-E0E9FE6C52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27"/>
          <a:stretch>
            <a:fillRect/>
          </a:stretch>
        </p:blipFill>
        <p:spPr>
          <a:xfrm>
            <a:off x="6096000" y="1387604"/>
            <a:ext cx="1697763" cy="235009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659006C-1657-07C0-502B-E8540CD8717B}"/>
              </a:ext>
            </a:extLst>
          </p:cNvPr>
          <p:cNvSpPr txBox="1"/>
          <p:nvPr/>
        </p:nvSpPr>
        <p:spPr>
          <a:xfrm>
            <a:off x="464263" y="5020954"/>
            <a:ext cx="2025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NeuVAS</a:t>
            </a:r>
            <a:r>
              <a:rPr lang="en-US" altLang="zh-CN" dirty="0"/>
              <a:t> Replicated:</a:t>
            </a:r>
            <a:endParaRPr lang="zh-CN" altLang="en-US" dirty="0"/>
          </a:p>
        </p:txBody>
      </p:sp>
      <p:pic>
        <p:nvPicPr>
          <p:cNvPr id="21" name="图片 20" descr="图片包含 形状&#10;&#10;AI 生成的内容可能不正确。">
            <a:extLst>
              <a:ext uri="{FF2B5EF4-FFF2-40B4-BE49-F238E27FC236}">
                <a16:creationId xmlns:a16="http://schemas.microsoft.com/office/drawing/2014/main" id="{AD14A29A-FF9A-E200-F9AD-91BE30AF97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492" y="1264035"/>
            <a:ext cx="1873863" cy="257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67E85-9191-1443-E0C4-60BBAF79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Results: Disconnected Curve Sketches </a:t>
            </a:r>
            <a:endParaRPr lang="zh-CN" altLang="en-US" dirty="0"/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802F801C-4CBC-5631-7ADC-953763A7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47" y="2466686"/>
            <a:ext cx="2472322" cy="2024247"/>
          </a:xfrm>
          <a:prstGeom prst="rect">
            <a:avLst/>
          </a:prstGeom>
        </p:spPr>
      </p:pic>
      <p:pic>
        <p:nvPicPr>
          <p:cNvPr id="6" name="内容占位符 5" descr="画着卡通人物&#10;&#10;AI 生成的内容可能不正确。">
            <a:extLst>
              <a:ext uri="{FF2B5EF4-FFF2-40B4-BE49-F238E27FC236}">
                <a16:creationId xmlns:a16="http://schemas.microsoft.com/office/drawing/2014/main" id="{E1AFF288-F3AA-74BC-FA90-9AAEA49CC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0718" y="2387412"/>
            <a:ext cx="2167514" cy="2083176"/>
          </a:xfrm>
          <a:prstGeom prst="rect">
            <a:avLst/>
          </a:prstGeom>
        </p:spPr>
      </p:pic>
      <p:pic>
        <p:nvPicPr>
          <p:cNvPr id="8" name="图片 7" descr="卡通人物&#10;&#10;AI 生成的内容可能不正确。">
            <a:extLst>
              <a:ext uri="{FF2B5EF4-FFF2-40B4-BE49-F238E27FC236}">
                <a16:creationId xmlns:a16="http://schemas.microsoft.com/office/drawing/2014/main" id="{63C752AF-9959-82C2-391B-C2F17B8F95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85"/>
          <a:stretch>
            <a:fillRect/>
          </a:stretch>
        </p:blipFill>
        <p:spPr>
          <a:xfrm>
            <a:off x="7328610" y="2466686"/>
            <a:ext cx="2293091" cy="202424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E7DACC1-2671-D758-37B4-64D55B44D3EF}"/>
              </a:ext>
            </a:extLst>
          </p:cNvPr>
          <p:cNvSpPr txBox="1"/>
          <p:nvPr/>
        </p:nvSpPr>
        <p:spPr>
          <a:xfrm>
            <a:off x="936692" y="1535326"/>
            <a:ext cx="98568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B</a:t>
            </a:r>
            <a:r>
              <a:rPr lang="zh-CN" altLang="en-US" sz="2400" dirty="0"/>
              <a:t>ulbasaur</a:t>
            </a:r>
            <a:r>
              <a:rPr lang="en-US" altLang="zh-CN" sz="2400" dirty="0"/>
              <a:t>: the surfaces are always degenerated to multi-parts. 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DB7683-E42E-D094-17F8-E963DF5274B5}"/>
              </a:ext>
            </a:extLst>
          </p:cNvPr>
          <p:cNvSpPr txBox="1"/>
          <p:nvPr/>
        </p:nvSpPr>
        <p:spPr>
          <a:xfrm>
            <a:off x="4810009" y="2089324"/>
            <a:ext cx="112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2500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45E085-AA31-D7AE-F1BD-984F7DD7E660}"/>
              </a:ext>
            </a:extLst>
          </p:cNvPr>
          <p:cNvSpPr txBox="1"/>
          <p:nvPr/>
        </p:nvSpPr>
        <p:spPr>
          <a:xfrm>
            <a:off x="7638940" y="2111207"/>
            <a:ext cx="1123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 3000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2059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68BE5-E2D3-8D94-5B60-9626DD17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Investigating Design Choices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E139BC-ABE6-E401-303C-9F34C5ACE9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b="1" dirty="0"/>
                  <a:t>My Research Question:</a:t>
                </a:r>
                <a:r>
                  <a:rPr lang="en-US" altLang="zh-CN" dirty="0"/>
                  <a:t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Why squared distance specifically?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b="1" dirty="0"/>
                  <a:t>What I Tested:</a:t>
                </a:r>
                <a:endParaRPr lang="en-US" altLang="zh-CN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Linear: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Squared: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²(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[Original]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Cubic: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³(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800" b="1" i="1" dirty="0" err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Exponential: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m:rPr>
                        <m:sty m:val="p"/>
                      </m:rP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⁡(−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1E139BC-ABE6-E401-303C-9F34C5ACE9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9" t="-1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97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6FC20-F170-C906-BB36-EE142B5B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6A570C-5B03-5743-11F3-A3CA4E739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What I Accomplished:</a:t>
            </a:r>
            <a:r>
              <a:rPr lang="en-US" altLang="zh-CN" dirty="0"/>
              <a:t> </a:t>
            </a:r>
          </a:p>
          <a:p>
            <a:r>
              <a:rPr lang="en-US" altLang="zh-CN" sz="2800" dirty="0"/>
              <a:t>Partial replication of </a:t>
            </a:r>
            <a:r>
              <a:rPr lang="en-US" altLang="zh-CN" sz="2800" dirty="0" err="1"/>
              <a:t>NeuVAS</a:t>
            </a:r>
            <a:r>
              <a:rPr lang="en-US" altLang="zh-CN" sz="2800" dirty="0"/>
              <a:t> from paper.</a:t>
            </a:r>
          </a:p>
          <a:p>
            <a:r>
              <a:rPr lang="en-US" altLang="zh-CN" sz="2800" dirty="0"/>
              <a:t>Hyperparameters Optimization</a:t>
            </a:r>
          </a:p>
          <a:p>
            <a:r>
              <a:rPr lang="en-US" altLang="zh-CN" sz="2800" dirty="0"/>
              <a:t>(</a:t>
            </a:r>
            <a:r>
              <a:rPr lang="en-US" altLang="zh-CN" sz="2800" dirty="0" err="1"/>
              <a:t>NeuVAS</a:t>
            </a:r>
            <a:r>
              <a:rPr lang="en-US" altLang="zh-CN" sz="2800" dirty="0"/>
              <a:t> is extremely sensitive to hyperparameters)</a:t>
            </a:r>
          </a:p>
          <a:p>
            <a:endParaRPr lang="en-US" altLang="zh-CN" sz="2800" dirty="0"/>
          </a:p>
          <a:p>
            <a:r>
              <a:rPr lang="en-US" altLang="zh-CN" b="1" dirty="0"/>
              <a:t>Future Works:</a:t>
            </a:r>
          </a:p>
          <a:p>
            <a:r>
              <a:rPr lang="en-US" altLang="zh-CN" dirty="0"/>
              <a:t>Improve the run-time performance</a:t>
            </a:r>
            <a:endParaRPr lang="en-US" altLang="zh-CN" b="1" dirty="0"/>
          </a:p>
          <a:p>
            <a:endParaRPr lang="en-US" altLang="zh-CN" sz="2800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2820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618</Words>
  <Application>Microsoft Office PowerPoint</Application>
  <PresentationFormat>宽屏</PresentationFormat>
  <Paragraphs>109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Cambria Math</vt:lpstr>
      <vt:lpstr>Open Sans</vt:lpstr>
      <vt:lpstr>Open Sans Extrabold</vt:lpstr>
      <vt:lpstr>Oswald Medium</vt:lpstr>
      <vt:lpstr>Office Theme</vt:lpstr>
      <vt:lpstr>Neural Implicit Surfaces for Variational Shape Modeling</vt:lpstr>
      <vt:lpstr>Project Overview</vt:lpstr>
      <vt:lpstr>Surfacing Sparse 3D Curves</vt:lpstr>
      <vt:lpstr>Foundation: What You Need to Know</vt:lpstr>
      <vt:lpstr>The Core Innovation</vt:lpstr>
      <vt:lpstr>Smoothness Energy</vt:lpstr>
      <vt:lpstr>Key Acceleration</vt:lpstr>
      <vt:lpstr>Putting It All Together</vt:lpstr>
      <vt:lpstr>Results: Structured Curve Networks</vt:lpstr>
      <vt:lpstr>Results: Disconnected Curve Sketches </vt:lpstr>
      <vt:lpstr>Investigating Design Choices</vt:lpstr>
      <vt:lpstr>Project Summary</vt:lpstr>
    </vt:vector>
  </TitlesOfParts>
  <Company>Texas A&amp;M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Larua Root</dc:creator>
  <cp:lastModifiedBy>Siqi Guo</cp:lastModifiedBy>
  <cp:revision>66</cp:revision>
  <dcterms:created xsi:type="dcterms:W3CDTF">2017-04-06T15:59:40Z</dcterms:created>
  <dcterms:modified xsi:type="dcterms:W3CDTF">2025-12-16T16:35:45Z</dcterms:modified>
</cp:coreProperties>
</file>